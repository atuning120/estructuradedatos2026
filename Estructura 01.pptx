
<file path=[Content_Types].xml><?xml version="1.0" encoding="utf-8"?>
<Types xmlns="http://schemas.openxmlformats.org/package/2006/content-types">
  <Default Extension="xml" ContentType="application/xml"/>
  <Default Extension="gif" ContentType="image/gif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s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8" d="100"/>
          <a:sy n="78" d="100"/>
        </p:scale>
        <p:origin x="850" y="6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816024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US"/>
          </a:p>
        </p:txBody>
      </p:sp>
      <p:sp>
        <p:nvSpPr>
          <p:cNvPr id="158505535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1727B22-D443-49C1-9EFF-D902DE12A18D}" type="datetimeFigureOut">
              <a:rPr lang="es-US"/>
              <a:t>9/10/2025</a:t>
            </a:fld>
            <a:endParaRPr lang="es-US"/>
          </a:p>
        </p:txBody>
      </p:sp>
      <p:sp>
        <p:nvSpPr>
          <p:cNvPr id="695340118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US"/>
          </a:p>
        </p:txBody>
      </p:sp>
      <p:sp>
        <p:nvSpPr>
          <p:cNvPr id="4549562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US"/>
          </a:p>
        </p:txBody>
      </p:sp>
      <p:sp>
        <p:nvSpPr>
          <p:cNvPr id="1451180068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US"/>
          </a:p>
        </p:txBody>
      </p:sp>
      <p:sp>
        <p:nvSpPr>
          <p:cNvPr id="439523793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72C4E90-3289-46AF-96A6-2DBF2E2B91DB}" type="slidenum">
              <a:rPr lang="es-US"/>
              <a:t>‹Nº›</a:t>
            </a:fld>
            <a:endParaRPr lang="es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9E297E-A687-0B11-E1AF-1D0A98B4E4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7CE619-743F-6445-3391-6045FA78F4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B959FB-DAD3-5739-6686-60A16315BF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C37B6-884E-E58D-346E-DDFA80C7D70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02EFD5-EA8C-5B82-C1AD-BE4E033728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9816E0-88C5-151C-1933-2CB6FC5F4C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B3E691-156F-EFA4-F16A-BFD540D73D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B4FECF-0D29-C486-16F9-BA7FE4B85E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6D9C6F-DF04-728F-5BF4-494D784DC7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FE6F3D-F6CE-F671-6DB3-903E7F0078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867F2-F7AA-D29D-BAD8-C2651D67954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616097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1663756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s-CL"/>
              <a:t>1. </a:t>
            </a:r>
            <a:r>
              <a:rPr lang="es-CL"/>
              <a:t>stack</a:t>
            </a:r>
            <a:endParaRPr lang="es-CL"/>
          </a:p>
        </p:txBody>
      </p:sp>
      <p:sp>
        <p:nvSpPr>
          <p:cNvPr id="1969536555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72C4E90-3289-46AF-96A6-2DBF2E2B91DB}" type="slidenum">
              <a:rPr lang="es-US"/>
              <a:t>12</a:t>
            </a:fld>
            <a:endParaRPr lang="es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628778" name="Title 1"/>
          <p:cNvSpPr>
            <a:spLocks noGrp="1"/>
          </p:cNvSpPr>
          <p:nvPr>
            <p:ph type="ctrTitle"/>
          </p:nvPr>
        </p:nvSpPr>
        <p:spPr bwMode="auto"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9082827" name="Subtitle 2"/>
          <p:cNvSpPr>
            <a:spLocks noGrp="1"/>
          </p:cNvSpPr>
          <p:nvPr>
            <p:ph type="subTitle" idx="1"/>
          </p:nvPr>
        </p:nvSpPr>
        <p:spPr bwMode="auto"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404603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9C5A860-F335-4252-AA00-24FB67ED2982}" type="datetime1">
              <a:rPr lang="en-US"/>
              <a:t>9/10/2025</a:t>
            </a:fld>
            <a:endParaRPr lang="en-US"/>
          </a:p>
        </p:txBody>
      </p:sp>
      <p:sp>
        <p:nvSpPr>
          <p:cNvPr id="13020057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7362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4369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1099392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289870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04BC802-30E3-4658-9CCA-F873646FEC67}" type="datetime1">
              <a:rPr lang="en-US"/>
              <a:t>9/10/2025</a:t>
            </a:fld>
            <a:endParaRPr lang="en-US"/>
          </a:p>
        </p:txBody>
      </p:sp>
      <p:sp>
        <p:nvSpPr>
          <p:cNvPr id="20697705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26914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44756" name="Title 1"/>
          <p:cNvSpPr>
            <a:spLocks noGrp="1"/>
          </p:cNvSpPr>
          <p:nvPr>
            <p:ph type="title"/>
          </p:nvPr>
        </p:nvSpPr>
        <p:spPr bwMode="auto"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8997112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016856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AB227A3-19CE-4153-81CE-64EB7AB094B3}" type="datetime1">
              <a:rPr lang="en-US"/>
              <a:t>9/10/2025</a:t>
            </a:fld>
            <a:endParaRPr lang="en-US"/>
          </a:p>
        </p:txBody>
      </p:sp>
      <p:sp>
        <p:nvSpPr>
          <p:cNvPr id="16098341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74394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4755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9732685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600" y="2081369"/>
            <a:ext cx="5410200" cy="409559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887132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2" y="2081369"/>
            <a:ext cx="5410200" cy="409559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38581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819A100-10F6-477E-8847-29D479EF1C92}" type="datetime1">
              <a:rPr lang="en-US"/>
              <a:t>9/10/2025</a:t>
            </a:fld>
            <a:endParaRPr lang="en-US"/>
          </a:p>
        </p:txBody>
      </p:sp>
      <p:sp>
        <p:nvSpPr>
          <p:cNvPr id="35086053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429542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1766819" name="Title 1"/>
          <p:cNvSpPr>
            <a:spLocks noGrp="1"/>
          </p:cNvSpPr>
          <p:nvPr>
            <p:ph type="title"/>
          </p:nvPr>
        </p:nvSpPr>
        <p:spPr bwMode="auto">
          <a:xfrm>
            <a:off x="609600" y="365125"/>
            <a:ext cx="10745788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63249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2836691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600" y="2842211"/>
            <a:ext cx="5387975" cy="334745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3941003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1632723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67890" y="2842211"/>
            <a:ext cx="5414510" cy="334745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0575509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DF128AB-198A-495F-8475-FDB360C9873F}" type="datetime1">
              <a:rPr lang="en-US"/>
              <a:t>9/10/2025</a:t>
            </a:fld>
            <a:endParaRPr lang="en-US"/>
          </a:p>
        </p:txBody>
      </p:sp>
      <p:sp>
        <p:nvSpPr>
          <p:cNvPr id="55771118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134600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869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012143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21A235E-F8FD-479F-9FC7-18BE84110877}" type="datetime1">
              <a:rPr lang="en-US"/>
              <a:t>9/10/2025</a:t>
            </a:fld>
            <a:endParaRPr lang="en-US"/>
          </a:p>
        </p:txBody>
      </p:sp>
      <p:sp>
        <p:nvSpPr>
          <p:cNvPr id="178350885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38824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7043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890F09B-68DA-462E-9DB4-4C9ADAB8CBCC}" type="datetime1">
              <a:rPr lang="en-US"/>
              <a:t>9/10/2025</a:t>
            </a:fld>
            <a:endParaRPr lang="en-US"/>
          </a:p>
        </p:txBody>
      </p:sp>
      <p:sp>
        <p:nvSpPr>
          <p:cNvPr id="6464593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259900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590048" name="Title 1"/>
          <p:cNvSpPr>
            <a:spLocks noGrp="1"/>
          </p:cNvSpPr>
          <p:nvPr>
            <p:ph type="title"/>
          </p:nvPr>
        </p:nvSpPr>
        <p:spPr bwMode="auto"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2715379" name="Content Placeholder 2"/>
          <p:cNvSpPr>
            <a:spLocks noGrp="1"/>
          </p:cNvSpPr>
          <p:nvPr>
            <p:ph idx="1"/>
          </p:nvPr>
        </p:nvSpPr>
        <p:spPr bwMode="auto"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876408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011319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7AC4E36-FABE-47EB-AA7F-C19A93824617}" type="datetime1">
              <a:rPr lang="en-US"/>
              <a:t>9/10/2025</a:t>
            </a:fld>
            <a:endParaRPr lang="en-US"/>
          </a:p>
        </p:txBody>
      </p:sp>
      <p:sp>
        <p:nvSpPr>
          <p:cNvPr id="72751614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2234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278099" name="Title 1"/>
          <p:cNvSpPr>
            <a:spLocks noGrp="1"/>
          </p:cNvSpPr>
          <p:nvPr>
            <p:ph type="title"/>
          </p:nvPr>
        </p:nvSpPr>
        <p:spPr bwMode="auto"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319509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53472301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804855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199CE6B-5DE6-4A2D-B72E-5E8969F9F56F}" type="datetime1">
              <a:rPr lang="en-US"/>
              <a:t>9/10/2025</a:t>
            </a:fld>
            <a:endParaRPr lang="en-US"/>
          </a:p>
        </p:txBody>
      </p:sp>
      <p:sp>
        <p:nvSpPr>
          <p:cNvPr id="31482483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65283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6775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3028164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094380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6AB1048-0047-48CA-88BA-D69B470942CF}" type="datetime1">
              <a:rPr lang="en-US"/>
              <a:t>9/10/2025</a:t>
            </a:fld>
            <a:endParaRPr lang="en-US"/>
          </a:p>
        </p:txBody>
      </p:sp>
      <p:sp>
        <p:nvSpPr>
          <p:cNvPr id="11451460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40505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59965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557784"/>
            <a:ext cx="2854452" cy="5643420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49750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12648" y="557784"/>
            <a:ext cx="7734300" cy="5643420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45969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D83879-648C-49A9-81A2-0EF5946532D0}" type="datetime1">
              <a:rPr lang="en-US"/>
              <a:t>9/10/2025</a:t>
            </a:fld>
            <a:endParaRPr lang="en-US"/>
          </a:p>
        </p:txBody>
      </p:sp>
      <p:sp>
        <p:nvSpPr>
          <p:cNvPr id="16025081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61922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74253" name="Rectangle 6"/>
          <p:cNvSpPr/>
          <p:nvPr/>
        </p:nvSpPr>
        <p:spPr bwMode="auto"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4696774" name="Freeform: Shape 7"/>
          <p:cNvSpPr/>
          <p:nvPr/>
        </p:nvSpPr>
        <p:spPr bwMode="auto"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 fill="norm" stroke="1" extrusionOk="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96517241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47453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807210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cap="all" spc="200">
                <a:solidFill>
                  <a:schemeClr val="tx1"/>
                </a:solidFill>
                <a:latin typeface="+mn-lt"/>
                <a:ea typeface="+mn-ea"/>
                <a:cs typeface="Segoe UI Semilight"/>
              </a:defRPr>
            </a:lvl1pPr>
          </a:lstStyle>
          <a:p>
            <a:pPr>
              <a:defRPr/>
            </a:pPr>
            <a:fld id="{F481A142-DA77-4A5F-AD1F-14E6C18F0F5F}" type="datetime1">
              <a:rPr lang="en-US"/>
              <a:t>9/10/2025</a:t>
            </a:fld>
            <a:endParaRPr lang="en-US"/>
          </a:p>
        </p:txBody>
      </p:sp>
      <p:sp>
        <p:nvSpPr>
          <p:cNvPr id="156082866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cap="all" spc="200">
                <a:solidFill>
                  <a:schemeClr val="tx1"/>
                </a:solidFill>
                <a:latin typeface="+mn-lt"/>
                <a:ea typeface="+mn-ea"/>
                <a:cs typeface="Segoe UI Semiligh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778957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cap="all" spc="200">
                <a:solidFill>
                  <a:schemeClr val="tx1"/>
                </a:solidFill>
                <a:latin typeface="+mn-lt"/>
                <a:ea typeface="+mn-ea"/>
                <a:cs typeface="Segoe UI Semilight"/>
              </a:defRPr>
            </a:lvl1pPr>
          </a:lstStyle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l" defTabSz="914400" rtl="0">
        <a:lnSpc>
          <a:spcPct val="10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>
        <a:lnSpc>
          <a:spcPct val="110000"/>
        </a:lnSpc>
        <a:spcBef>
          <a:spcPts val="1000"/>
        </a:spcBef>
        <a:buClr>
          <a:schemeClr val="accent5"/>
        </a:buClr>
        <a:buFont typeface="Avenir Next LT Pro"/>
        <a:buNone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>
        <a:lnSpc>
          <a:spcPct val="110000"/>
        </a:lnSpc>
        <a:spcBef>
          <a:spcPts val="500"/>
        </a:spcBef>
        <a:buClr>
          <a:schemeClr val="accent5"/>
        </a:buClr>
        <a:buFont typeface="Avenir Next LT Pro"/>
        <a:buNone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>
        <a:lnSpc>
          <a:spcPct val="110000"/>
        </a:lnSpc>
        <a:spcBef>
          <a:spcPts val="500"/>
        </a:spcBef>
        <a:buClr>
          <a:schemeClr val="accent5"/>
        </a:buClr>
        <a:buFont typeface="Avenir Next LT Pro"/>
        <a:buNone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>
        <a:lnSpc>
          <a:spcPct val="110000"/>
        </a:lnSpc>
        <a:spcBef>
          <a:spcPts val="500"/>
        </a:spcBef>
        <a:buClr>
          <a:schemeClr val="accent5"/>
        </a:buClr>
        <a:buFont typeface="Avenir Next LT Pro"/>
        <a:buNone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>
        <a:lnSpc>
          <a:spcPct val="110000"/>
        </a:lnSpc>
        <a:spcBef>
          <a:spcPts val="500"/>
        </a:spcBef>
        <a:buClr>
          <a:schemeClr val="accent5"/>
        </a:buClr>
        <a:buFont typeface="Avenir Next LT Pro"/>
        <a:buNone/>
        <a:defRPr sz="14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gif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799761707" name="Rectangle 17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644704774" name="Rectangle 19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622321019" name="Imagen 12" descr="Texto&#10;&#10;Descripción generada automáticamente"/>
          <p:cNvPicPr>
            <a:picLocks noChangeAspect="1"/>
          </p:cNvPicPr>
          <p:nvPr/>
        </p:nvPicPr>
        <p:blipFill rotWithShape="1">
          <a:blip r:embed="rId3"/>
          <a:srcRect l="0" t="0" r="23046" b="-1"/>
          <a:stretch/>
        </p:blipFill>
        <p:spPr bwMode="auto">
          <a:xfrm>
            <a:off x="4285860" y="10"/>
            <a:ext cx="7906139" cy="6857989"/>
          </a:xfrm>
          <a:prstGeom prst="rect">
            <a:avLst/>
          </a:prstGeom>
        </p:spPr>
      </p:pic>
      <p:sp useBgFill="1">
        <p:nvSpPr>
          <p:cNvPr id="1032664375" name="Freeform: Shape 21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-1" y="0"/>
            <a:ext cx="5592970" cy="6858000"/>
          </a:xfrm>
          <a:custGeom>
            <a:avLst/>
            <a:gdLst>
              <a:gd name="connsiteX0" fmla="*/ 4912746 w 5592970"/>
              <a:gd name="connsiteY0" fmla="*/ 2355321 h 6897159"/>
              <a:gd name="connsiteX1" fmla="*/ 4714738 w 5592970"/>
              <a:gd name="connsiteY1" fmla="*/ 2553329 h 6897159"/>
              <a:gd name="connsiteX2" fmla="*/ 4912746 w 5592970"/>
              <a:gd name="connsiteY2" fmla="*/ 2751337 h 6897159"/>
              <a:gd name="connsiteX3" fmla="*/ 5110754 w 5592970"/>
              <a:gd name="connsiteY3" fmla="*/ 2553329 h 6897159"/>
              <a:gd name="connsiteX4" fmla="*/ 4912746 w 5592970"/>
              <a:gd name="connsiteY4" fmla="*/ 2355321 h 6897159"/>
              <a:gd name="connsiteX5" fmla="*/ 4769785 w 5592970"/>
              <a:gd name="connsiteY5" fmla="*/ 1301525 h 6897159"/>
              <a:gd name="connsiteX6" fmla="*/ 4358192 w 5592970"/>
              <a:gd name="connsiteY6" fmla="*/ 1713118 h 6897159"/>
              <a:gd name="connsiteX7" fmla="*/ 4769785 w 5592970"/>
              <a:gd name="connsiteY7" fmla="*/ 2124711 h 6897159"/>
              <a:gd name="connsiteX8" fmla="*/ 5181378 w 5592970"/>
              <a:gd name="connsiteY8" fmla="*/ 1713118 h 6897159"/>
              <a:gd name="connsiteX9" fmla="*/ 4769785 w 5592970"/>
              <a:gd name="connsiteY9" fmla="*/ 1301525 h 6897159"/>
              <a:gd name="connsiteX10" fmla="*/ 1485712 w 5592970"/>
              <a:gd name="connsiteY10" fmla="*/ 0 h 6897159"/>
              <a:gd name="connsiteX11" fmla="*/ 1911850 w 5592970"/>
              <a:gd name="connsiteY11" fmla="*/ 0 h 6897159"/>
              <a:gd name="connsiteX12" fmla="*/ 4693359 w 5592970"/>
              <a:gd name="connsiteY12" fmla="*/ 0 h 6897159"/>
              <a:gd name="connsiteX13" fmla="*/ 4687196 w 5592970"/>
              <a:gd name="connsiteY13" fmla="*/ 186052 h 6897159"/>
              <a:gd name="connsiteX14" fmla="*/ 4689492 w 5592970"/>
              <a:gd name="connsiteY14" fmla="*/ 422393 h 6897159"/>
              <a:gd name="connsiteX15" fmla="*/ 5029277 w 5592970"/>
              <a:gd name="connsiteY15" fmla="*/ 1074198 h 6897159"/>
              <a:gd name="connsiteX16" fmla="*/ 5368989 w 5592970"/>
              <a:gd name="connsiteY16" fmla="*/ 2604190 h 6897159"/>
              <a:gd name="connsiteX17" fmla="*/ 5030698 w 5592970"/>
              <a:gd name="connsiteY17" fmla="*/ 3182337 h 6897159"/>
              <a:gd name="connsiteX18" fmla="*/ 4910556 w 5592970"/>
              <a:gd name="connsiteY18" fmla="*/ 4667756 h 6897159"/>
              <a:gd name="connsiteX19" fmla="*/ 5374561 w 5592970"/>
              <a:gd name="connsiteY19" fmla="*/ 5703238 h 6897159"/>
              <a:gd name="connsiteX20" fmla="*/ 5591170 w 5592970"/>
              <a:gd name="connsiteY20" fmla="*/ 6745970 h 6897159"/>
              <a:gd name="connsiteX21" fmla="*/ 5592970 w 5592970"/>
              <a:gd name="connsiteY21" fmla="*/ 6897158 h 6897159"/>
              <a:gd name="connsiteX22" fmla="*/ 2734191 w 5592970"/>
              <a:gd name="connsiteY22" fmla="*/ 6897158 h 6897159"/>
              <a:gd name="connsiteX23" fmla="*/ 2734191 w 5592970"/>
              <a:gd name="connsiteY23" fmla="*/ 6897159 h 6897159"/>
              <a:gd name="connsiteX24" fmla="*/ 0 w 5592970"/>
              <a:gd name="connsiteY24" fmla="*/ 6897159 h 6897159"/>
              <a:gd name="connsiteX25" fmla="*/ 0 w 5592970"/>
              <a:gd name="connsiteY25" fmla="*/ 1 h 6897159"/>
              <a:gd name="connsiteX26" fmla="*/ 1485712 w 5592970"/>
              <a:gd name="connsiteY26" fmla="*/ 1 h 6897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592970" h="6897159" fill="norm" stroke="1" extrusionOk="0">
                <a:moveTo>
                  <a:pt x="4912746" y="2355321"/>
                </a:moveTo>
                <a:cubicBezTo>
                  <a:pt x="4803389" y="2355321"/>
                  <a:pt x="4714738" y="2443972"/>
                  <a:pt x="4714738" y="2553329"/>
                </a:cubicBezTo>
                <a:cubicBezTo>
                  <a:pt x="4714738" y="2662686"/>
                  <a:pt x="4803389" y="2751337"/>
                  <a:pt x="4912746" y="2751337"/>
                </a:cubicBezTo>
                <a:cubicBezTo>
                  <a:pt x="5022103" y="2751337"/>
                  <a:pt x="5110754" y="2662686"/>
                  <a:pt x="5110754" y="2553329"/>
                </a:cubicBezTo>
                <a:cubicBezTo>
                  <a:pt x="5110754" y="2443972"/>
                  <a:pt x="5022103" y="2355321"/>
                  <a:pt x="4912746" y="2355321"/>
                </a:cubicBezTo>
                <a:close/>
                <a:moveTo>
                  <a:pt x="4769785" y="1301525"/>
                </a:moveTo>
                <a:cubicBezTo>
                  <a:pt x="4542468" y="1301525"/>
                  <a:pt x="4358192" y="1485801"/>
                  <a:pt x="4358192" y="1713118"/>
                </a:cubicBezTo>
                <a:cubicBezTo>
                  <a:pt x="4358192" y="1940435"/>
                  <a:pt x="4542468" y="2124711"/>
                  <a:pt x="4769785" y="2124711"/>
                </a:cubicBezTo>
                <a:cubicBezTo>
                  <a:pt x="4997102" y="2124711"/>
                  <a:pt x="5181378" y="1940435"/>
                  <a:pt x="5181378" y="1713118"/>
                </a:cubicBezTo>
                <a:cubicBezTo>
                  <a:pt x="5181378" y="1485801"/>
                  <a:pt x="4997102" y="1301525"/>
                  <a:pt x="4769785" y="1301525"/>
                </a:cubicBezTo>
                <a:close/>
                <a:moveTo>
                  <a:pt x="1485712" y="0"/>
                </a:moveTo>
                <a:lnTo>
                  <a:pt x="1911850" y="0"/>
                </a:lnTo>
                <a:lnTo>
                  <a:pt x="4693359" y="0"/>
                </a:lnTo>
                <a:lnTo>
                  <a:pt x="4687196" y="186052"/>
                </a:lnTo>
                <a:cubicBezTo>
                  <a:pt x="4686166" y="265025"/>
                  <a:pt x="4686829" y="343862"/>
                  <a:pt x="4689492" y="422393"/>
                </a:cubicBezTo>
                <a:cubicBezTo>
                  <a:pt x="4699496" y="713539"/>
                  <a:pt x="4872938" y="896626"/>
                  <a:pt x="5029277" y="1074198"/>
                </a:cubicBezTo>
                <a:cubicBezTo>
                  <a:pt x="5418992" y="1516672"/>
                  <a:pt x="5551614" y="2043761"/>
                  <a:pt x="5368989" y="2604190"/>
                </a:cubicBezTo>
                <a:cubicBezTo>
                  <a:pt x="5298163" y="2821542"/>
                  <a:pt x="5160452" y="3010355"/>
                  <a:pt x="5030698" y="3182337"/>
                </a:cubicBezTo>
                <a:cubicBezTo>
                  <a:pt x="4682698" y="3643429"/>
                  <a:pt x="4696957" y="4178177"/>
                  <a:pt x="4910556" y="4667756"/>
                </a:cubicBezTo>
                <a:cubicBezTo>
                  <a:pt x="5062728" y="5015306"/>
                  <a:pt x="5245193" y="5341884"/>
                  <a:pt x="5374561" y="5703238"/>
                </a:cubicBezTo>
                <a:cubicBezTo>
                  <a:pt x="5500512" y="6053410"/>
                  <a:pt x="5575240" y="6402760"/>
                  <a:pt x="5591170" y="6745970"/>
                </a:cubicBezTo>
                <a:lnTo>
                  <a:pt x="5592970" y="6897158"/>
                </a:lnTo>
                <a:lnTo>
                  <a:pt x="2734191" y="6897158"/>
                </a:lnTo>
                <a:lnTo>
                  <a:pt x="2734191" y="6897159"/>
                </a:lnTo>
                <a:lnTo>
                  <a:pt x="0" y="6897159"/>
                </a:lnTo>
                <a:lnTo>
                  <a:pt x="0" y="1"/>
                </a:lnTo>
                <a:lnTo>
                  <a:pt x="1485712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215867726" name="Título 1"/>
          <p:cNvSpPr>
            <a:spLocks noGrp="1"/>
          </p:cNvSpPr>
          <p:nvPr>
            <p:ph type="ctrTitle"/>
          </p:nvPr>
        </p:nvSpPr>
        <p:spPr bwMode="auto">
          <a:xfrm>
            <a:off x="886556" y="2062162"/>
            <a:ext cx="4197073" cy="2387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ES"/>
              <a:t>Tutoría de Estructura de datos </a:t>
            </a:r>
            <a:r>
              <a:rPr lang="es-ES"/>
              <a:t>N°</a:t>
            </a:r>
            <a:r>
              <a:rPr lang="es-ES"/>
              <a:t> </a:t>
            </a:r>
            <a:r>
              <a:rPr lang="ca-ES"/>
              <a:t>1</a:t>
            </a:r>
            <a:endParaRPr lang="es-US"/>
          </a:p>
        </p:txBody>
      </p:sp>
      <p:sp>
        <p:nvSpPr>
          <p:cNvPr id="1564902724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025529" y="4647067"/>
            <a:ext cx="3541909" cy="2387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ES"/>
              <a:t>Cristian Nuñez</a:t>
            </a:r>
            <a:endParaRPr/>
          </a:p>
          <a:p>
            <a:pPr>
              <a:defRPr/>
            </a:pPr>
            <a:endParaRPr lang="es-ES"/>
          </a:p>
          <a:p>
            <a:pPr>
              <a:defRPr/>
            </a:pPr>
            <a:endParaRPr lang="es-US"/>
          </a:p>
        </p:txBody>
      </p:sp>
      <p:pic>
        <p:nvPicPr>
          <p:cNvPr id="1055380516" name="Imagen 14" descr="Un letrero de color blanco&#10;&#10;Descripción generada automáticamente con confianza baja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078534" y="152423"/>
            <a:ext cx="1175704" cy="1175704"/>
          </a:xfrm>
          <a:prstGeom prst="rect">
            <a:avLst/>
          </a:prstGeom>
        </p:spPr>
      </p:pic>
      <p:pic>
        <p:nvPicPr>
          <p:cNvPr id="956666119" name="Imagen 16" descr="Logotipo&#10;&#10;Descripción generada automáticamente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0799217" y="152423"/>
            <a:ext cx="1175704" cy="11757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6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928927" name="Título 1"/>
          <p:cNvSpPr>
            <a:spLocks noGrp="1"/>
          </p:cNvSpPr>
          <p:nvPr>
            <p:ph type="title"/>
          </p:nvPr>
        </p:nvSpPr>
        <p:spPr bwMode="auto">
          <a:xfrm>
            <a:off x="5560142" y="0"/>
            <a:ext cx="8414657" cy="1325563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es-ES">
                <a:solidFill>
                  <a:srgbClr val="B0EBDF"/>
                </a:solidFill>
              </a:rPr>
              <a:t>Clases y herencia</a:t>
            </a:r>
            <a:endParaRPr lang="es-US">
              <a:solidFill>
                <a:srgbClr val="B0EBDF"/>
              </a:solidFill>
            </a:endParaRPr>
          </a:p>
        </p:txBody>
      </p:sp>
      <p:pic>
        <p:nvPicPr>
          <p:cNvPr id="1332374097" name="Imagen 1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624077" y="1482548"/>
            <a:ext cx="8126715" cy="52161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430625" name="Título 1"/>
          <p:cNvSpPr>
            <a:spLocks noGrp="1"/>
          </p:cNvSpPr>
          <p:nvPr>
            <p:ph type="title"/>
          </p:nvPr>
        </p:nvSpPr>
        <p:spPr bwMode="auto">
          <a:xfrm>
            <a:off x="8888361" y="-147484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Ejercicio</a:t>
            </a:r>
            <a:endParaRPr lang="es-US"/>
          </a:p>
        </p:txBody>
      </p:sp>
      <p:pic>
        <p:nvPicPr>
          <p:cNvPr id="1069356492" name="Imagen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9889" y="690817"/>
            <a:ext cx="3042880" cy="3269117"/>
          </a:xfrm>
          <a:prstGeom prst="rect">
            <a:avLst/>
          </a:prstGeom>
        </p:spPr>
      </p:pic>
      <p:pic>
        <p:nvPicPr>
          <p:cNvPr id="696359108" name="Imagen 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83202" y="4040488"/>
            <a:ext cx="3361157" cy="2126695"/>
          </a:xfrm>
          <a:prstGeom prst="rect">
            <a:avLst/>
          </a:prstGeom>
        </p:spPr>
      </p:pic>
      <p:pic>
        <p:nvPicPr>
          <p:cNvPr id="1037417628" name="Imagen 7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718258" y="892948"/>
            <a:ext cx="3809725" cy="5074841"/>
          </a:xfrm>
          <a:prstGeom prst="rect">
            <a:avLst/>
          </a:prstGeom>
        </p:spPr>
      </p:pic>
      <p:sp>
        <p:nvSpPr>
          <p:cNvPr id="1908333926" name=""/>
          <p:cNvSpPr txBox="1"/>
          <p:nvPr/>
        </p:nvSpPr>
        <p:spPr bwMode="auto">
          <a:xfrm rot="0" flipH="0" flipV="0">
            <a:off x="8963499" y="2121082"/>
            <a:ext cx="329692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ca-ES"/>
              <a:t>¿Cual es la salida en consola?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666716" name="Título 1"/>
          <p:cNvSpPr>
            <a:spLocks noGrp="1"/>
          </p:cNvSpPr>
          <p:nvPr>
            <p:ph type="title"/>
          </p:nvPr>
        </p:nvSpPr>
        <p:spPr bwMode="auto">
          <a:xfrm>
            <a:off x="8888361" y="-147484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Ejercicio</a:t>
            </a:r>
            <a:endParaRPr lang="es-US"/>
          </a:p>
        </p:txBody>
      </p:sp>
      <p:pic>
        <p:nvPicPr>
          <p:cNvPr id="159981817" name="Imagen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109125" y="675891"/>
            <a:ext cx="4239217" cy="5506218"/>
          </a:xfrm>
          <a:prstGeom prst="rect">
            <a:avLst/>
          </a:prstGeom>
        </p:spPr>
      </p:pic>
      <p:sp>
        <p:nvSpPr>
          <p:cNvPr id="1374158644" name=""/>
          <p:cNvSpPr txBox="1"/>
          <p:nvPr/>
        </p:nvSpPr>
        <p:spPr bwMode="auto">
          <a:xfrm rot="0" flipH="0" flipV="0">
            <a:off x="8119856" y="2121081"/>
            <a:ext cx="329692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ca-ES"/>
              <a:t>¿Cual es la salida en consola?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723931" name="Título 1"/>
          <p:cNvSpPr>
            <a:spLocks noGrp="1"/>
          </p:cNvSpPr>
          <p:nvPr>
            <p:ph type="title"/>
          </p:nvPr>
        </p:nvSpPr>
        <p:spPr bwMode="auto">
          <a:xfrm>
            <a:off x="8888361" y="-147484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Ejercicio</a:t>
            </a:r>
            <a:endParaRPr lang="es-US"/>
          </a:p>
        </p:txBody>
      </p:sp>
      <p:pic>
        <p:nvPicPr>
          <p:cNvPr id="860601371" name="Imagen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68235" y="1508435"/>
            <a:ext cx="4368055" cy="4567135"/>
          </a:xfrm>
          <a:prstGeom prst="rect">
            <a:avLst/>
          </a:prstGeom>
        </p:spPr>
      </p:pic>
      <p:pic>
        <p:nvPicPr>
          <p:cNvPr id="1178109716" name="Imagen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69035" y="1124542"/>
            <a:ext cx="5390319" cy="1648803"/>
          </a:xfrm>
          <a:prstGeom prst="rect">
            <a:avLst/>
          </a:prstGeom>
        </p:spPr>
      </p:pic>
      <p:pic>
        <p:nvPicPr>
          <p:cNvPr id="1289643348" name="Imagen 6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69035" y="2808128"/>
            <a:ext cx="5390319" cy="1664292"/>
          </a:xfrm>
          <a:prstGeom prst="rect">
            <a:avLst/>
          </a:prstGeom>
        </p:spPr>
      </p:pic>
      <p:pic>
        <p:nvPicPr>
          <p:cNvPr id="1640991382" name="Imagen 8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269034" y="4507203"/>
            <a:ext cx="5390319" cy="1634564"/>
          </a:xfrm>
          <a:prstGeom prst="rect">
            <a:avLst/>
          </a:prstGeom>
        </p:spPr>
      </p:pic>
      <p:sp>
        <p:nvSpPr>
          <p:cNvPr id="1180964774" name=""/>
          <p:cNvSpPr txBox="1"/>
          <p:nvPr/>
        </p:nvSpPr>
        <p:spPr bwMode="auto">
          <a:xfrm rot="0" flipH="0" flipV="0">
            <a:off x="953428" y="332237"/>
            <a:ext cx="329692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ca-ES"/>
              <a:t>¿Cual es la salida en consola?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6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082209" name="Título 1"/>
          <p:cNvSpPr>
            <a:spLocks noGrp="1"/>
          </p:cNvSpPr>
          <p:nvPr>
            <p:ph type="title"/>
          </p:nvPr>
        </p:nvSpPr>
        <p:spPr bwMode="auto">
          <a:xfrm>
            <a:off x="5754624" y="70127"/>
            <a:ext cx="8414657" cy="1325563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es-ES">
                <a:solidFill>
                  <a:srgbClr val="B0EBDF"/>
                </a:solidFill>
              </a:rPr>
              <a:t>Listas enlazadas </a:t>
            </a:r>
            <a:endParaRPr lang="es-US">
              <a:solidFill>
                <a:srgbClr val="B0EBDF"/>
              </a:solidFill>
            </a:endParaRPr>
          </a:p>
        </p:txBody>
      </p:sp>
      <p:sp>
        <p:nvSpPr>
          <p:cNvPr id="1584793423" name="Rectángulo 2"/>
          <p:cNvSpPr/>
          <p:nvPr/>
        </p:nvSpPr>
        <p:spPr bwMode="auto">
          <a:xfrm>
            <a:off x="698091" y="1986116"/>
            <a:ext cx="1651819" cy="884904"/>
          </a:xfrm>
          <a:prstGeom prst="rect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CL" b="1">
                <a:solidFill>
                  <a:schemeClr val="bg2">
                    <a:lumMod val="10000"/>
                  </a:schemeClr>
                </a:solidFill>
              </a:rPr>
              <a:t>Nodo 1</a:t>
            </a:r>
            <a:endParaRPr lang="es-US" b="1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143897762" name="Rectángulo 4"/>
          <p:cNvSpPr/>
          <p:nvPr/>
        </p:nvSpPr>
        <p:spPr bwMode="auto">
          <a:xfrm>
            <a:off x="6494206" y="1986115"/>
            <a:ext cx="1651819" cy="884904"/>
          </a:xfrm>
          <a:prstGeom prst="rect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CL" b="1">
                <a:solidFill>
                  <a:schemeClr val="bg2">
                    <a:lumMod val="10000"/>
                  </a:schemeClr>
                </a:solidFill>
              </a:rPr>
              <a:t>Nodo 3</a:t>
            </a:r>
            <a:endParaRPr lang="es-US" b="1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065977712" name="Rectángulo 5"/>
          <p:cNvSpPr/>
          <p:nvPr/>
        </p:nvSpPr>
        <p:spPr bwMode="auto">
          <a:xfrm>
            <a:off x="3723967" y="1986116"/>
            <a:ext cx="1651819" cy="884904"/>
          </a:xfrm>
          <a:prstGeom prst="rect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CL" b="1">
                <a:solidFill>
                  <a:schemeClr val="bg2">
                    <a:lumMod val="10000"/>
                  </a:schemeClr>
                </a:solidFill>
              </a:rPr>
              <a:t>Nodo2</a:t>
            </a:r>
            <a:endParaRPr lang="es-US" b="1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28435007" name="Flecha: a la derecha 6"/>
          <p:cNvSpPr/>
          <p:nvPr/>
        </p:nvSpPr>
        <p:spPr bwMode="auto">
          <a:xfrm>
            <a:off x="2605548" y="2192593"/>
            <a:ext cx="747252" cy="47194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US"/>
          </a:p>
        </p:txBody>
      </p:sp>
      <p:sp>
        <p:nvSpPr>
          <p:cNvPr id="84629623" name="Flecha: a la derecha 7"/>
          <p:cNvSpPr/>
          <p:nvPr/>
        </p:nvSpPr>
        <p:spPr bwMode="auto">
          <a:xfrm>
            <a:off x="5561370" y="2192593"/>
            <a:ext cx="747252" cy="47194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US"/>
          </a:p>
        </p:txBody>
      </p:sp>
      <p:sp>
        <p:nvSpPr>
          <p:cNvPr id="2115557934" name="Flecha: a la derecha 8"/>
          <p:cNvSpPr/>
          <p:nvPr/>
        </p:nvSpPr>
        <p:spPr bwMode="auto">
          <a:xfrm>
            <a:off x="8331609" y="2192593"/>
            <a:ext cx="747252" cy="47194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US"/>
          </a:p>
        </p:txBody>
      </p:sp>
      <p:sp>
        <p:nvSpPr>
          <p:cNvPr id="846709649" name="CuadroTexto 9"/>
          <p:cNvSpPr txBox="1"/>
          <p:nvPr/>
        </p:nvSpPr>
        <p:spPr bwMode="auto">
          <a:xfrm>
            <a:off x="9264445" y="2074624"/>
            <a:ext cx="15071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s-CL" sz="4000" b="1"/>
              <a:t>NULL</a:t>
            </a:r>
            <a:endParaRPr lang="es-US" sz="4000" b="1"/>
          </a:p>
        </p:txBody>
      </p:sp>
      <p:pic>
        <p:nvPicPr>
          <p:cNvPr id="2109284774" name="Imagen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723967" y="3355502"/>
            <a:ext cx="3457769" cy="3144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121081" name="Título 1"/>
          <p:cNvSpPr>
            <a:spLocks noGrp="1"/>
          </p:cNvSpPr>
          <p:nvPr>
            <p:ph type="title"/>
          </p:nvPr>
        </p:nvSpPr>
        <p:spPr bwMode="auto">
          <a:xfrm>
            <a:off x="8888361" y="-147484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Ejercicios</a:t>
            </a:r>
            <a:endParaRPr lang="es-US"/>
          </a:p>
        </p:txBody>
      </p:sp>
      <p:sp>
        <p:nvSpPr>
          <p:cNvPr id="1571326941" name="Título 1"/>
          <p:cNvSpPr txBox="1"/>
          <p:nvPr/>
        </p:nvSpPr>
        <p:spPr bwMode="auto">
          <a:xfrm>
            <a:off x="454475" y="1087470"/>
            <a:ext cx="8508653" cy="503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eriod"/>
              <a:defRPr/>
            </a:pPr>
            <a:r>
              <a:rPr lang="es-ES"/>
              <a:t>Cree un algoritmo de inserción al principio de una lista enlazada simple.</a:t>
            </a:r>
            <a:endParaRPr/>
          </a:p>
          <a:p>
            <a:pPr marL="742950" indent="-742950">
              <a:buAutoNum type="arabicPeriod"/>
              <a:defRPr/>
            </a:pPr>
            <a:r>
              <a:rPr lang="es-ES"/>
              <a:t>Cree un algoritmo de inserción al final de una lista enlazada simple.</a:t>
            </a:r>
            <a:endParaRPr/>
          </a:p>
          <a:p>
            <a:pPr marL="742950" indent="-742950">
              <a:buAutoNum type="arabicPeriod"/>
              <a:defRPr/>
            </a:pPr>
            <a:r>
              <a:rPr lang="es-ES"/>
              <a:t>Cree un algoritmo de eliminación de un elemento en una lista enlazada simple.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6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424066" name="Título 1"/>
          <p:cNvSpPr txBox="1"/>
          <p:nvPr/>
        </p:nvSpPr>
        <p:spPr bwMode="auto">
          <a:xfrm>
            <a:off x="5754624" y="70127"/>
            <a:ext cx="8414657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>
                <a:solidFill>
                  <a:srgbClr val="B0EBDF"/>
                </a:solidFill>
              </a:rPr>
              <a:t>Pila (stack, lifo)</a:t>
            </a:r>
            <a:endParaRPr lang="es-US">
              <a:solidFill>
                <a:srgbClr val="B0EBDF"/>
              </a:solidFill>
            </a:endParaRPr>
          </a:p>
        </p:txBody>
      </p:sp>
      <p:pic>
        <p:nvPicPr>
          <p:cNvPr id="1210853783" name="Picture 3" descr="LENGUAJE DE PROGRAMACION III : Estructura Dinámicas pilas, colas, y listas."/>
          <p:cNvPicPr/>
          <p:nvPr/>
        </p:nvPicPr>
        <p:blipFill rotWithShape="1">
          <a:blip r:embed="rId3"/>
          <a:stretch/>
        </p:blipFill>
        <p:spPr bwMode="auto">
          <a:xfrm>
            <a:off x="1473236" y="2184354"/>
            <a:ext cx="4408177" cy="4129147"/>
          </a:xfrm>
          <a:prstGeom prst="rect">
            <a:avLst/>
          </a:prstGeom>
          <a:ln w="0">
            <a:noFill/>
          </a:ln>
        </p:spPr>
      </p:pic>
      <p:sp>
        <p:nvSpPr>
          <p:cNvPr id="1326380094" name="CuadroTexto 9"/>
          <p:cNvSpPr txBox="1"/>
          <p:nvPr/>
        </p:nvSpPr>
        <p:spPr bwMode="auto">
          <a:xfrm>
            <a:off x="6464809" y="2397142"/>
            <a:ext cx="5220260" cy="1588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3680">
              <a:lnSpc>
                <a:spcPct val="90000"/>
              </a:lnSpc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Funciones</a:t>
            </a:r>
            <a:endParaRPr lang="es-CL" sz="1800" b="0" strike="noStrike" spc="-1">
              <a:solidFill>
                <a:schemeClr val="bg1"/>
              </a:solidFill>
              <a:latin typeface="Times New Roman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Push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Insertar nodo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Pop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Elimina un nodo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Top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Retoma el nodo del tope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Empty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True si pila esta vacía</a:t>
            </a:r>
            <a:endParaRPr/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Size</a:t>
            </a:r>
            <a:r>
              <a:rPr lang="es-MX" spc="-1">
                <a:solidFill>
                  <a:schemeClr val="bg1"/>
                </a:solidFill>
                <a:latin typeface="Roboto Slab"/>
                <a:ea typeface="Roboto Slab"/>
              </a:rPr>
              <a:t>: tamaño de la pila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610356" name="Título 1"/>
          <p:cNvSpPr>
            <a:spLocks noGrp="1"/>
          </p:cNvSpPr>
          <p:nvPr>
            <p:ph type="title"/>
          </p:nvPr>
        </p:nvSpPr>
        <p:spPr bwMode="auto">
          <a:xfrm>
            <a:off x="8528445" y="0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Ejercicio</a:t>
            </a:r>
            <a:endParaRPr lang="es-US"/>
          </a:p>
        </p:txBody>
      </p:sp>
      <p:sp>
        <p:nvSpPr>
          <p:cNvPr id="241465155" name="CuadroTexto 6"/>
          <p:cNvSpPr txBox="1"/>
          <p:nvPr/>
        </p:nvSpPr>
        <p:spPr bwMode="auto">
          <a:xfrm>
            <a:off x="534970" y="2613483"/>
            <a:ext cx="112768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>
                <a:latin typeface="+mj-lt"/>
              </a:rPr>
              <a:t>Implementa un programa en C++ que invierta una cadena de texto utilizando una pila. El objetivo es demostrar cómo las pilas se pueden utilizar para revertir el orden de elementos.</a:t>
            </a:r>
            <a:b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</a:br>
            <a:endParaRPr lang="es-ES" b="0">
              <a:solidFill>
                <a:schemeClr val="tx2">
                  <a:lumMod val="50000"/>
                </a:schemeClr>
              </a:solidFill>
              <a:latin typeface="+mj-lt"/>
            </a:endParaRPr>
          </a:p>
          <a:p>
            <a:pPr>
              <a:defRPr/>
            </a:pP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Ejemplo:</a:t>
            </a:r>
            <a:endParaRPr/>
          </a:p>
          <a:p>
            <a:pPr>
              <a:defRPr/>
            </a:pPr>
            <a:endParaRPr lang="es-ES">
              <a:solidFill>
                <a:schemeClr val="tx2">
                  <a:lumMod val="50000"/>
                </a:schemeClr>
              </a:solidFill>
              <a:latin typeface="+mj-lt"/>
            </a:endParaRPr>
          </a:p>
          <a:p>
            <a:pPr>
              <a:defRPr/>
            </a:pP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Entrada: HOLA MUNDO</a:t>
            </a:r>
            <a:endParaRPr/>
          </a:p>
          <a:p>
            <a:pPr>
              <a:defRPr/>
            </a:pP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Salida: ODNUM ALOH</a:t>
            </a:r>
            <a:endParaRPr/>
          </a:p>
        </p:txBody>
      </p:sp>
      <p:sp>
        <p:nvSpPr>
          <p:cNvPr id="1363340485" name="CuadroTexto 7"/>
          <p:cNvSpPr txBox="1"/>
          <p:nvPr/>
        </p:nvSpPr>
        <p:spPr bwMode="auto">
          <a:xfrm>
            <a:off x="432917" y="1987009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 sz="2000" b="1"/>
              <a:t>Invertir una Cadena utilizando Pilas</a:t>
            </a:r>
            <a:endParaRPr lang="es-US" sz="20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730682" name="Título 1"/>
          <p:cNvSpPr>
            <a:spLocks noGrp="1"/>
          </p:cNvSpPr>
          <p:nvPr>
            <p:ph type="title"/>
          </p:nvPr>
        </p:nvSpPr>
        <p:spPr bwMode="auto">
          <a:xfrm>
            <a:off x="8528445" y="0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Ejercicio</a:t>
            </a:r>
            <a:endParaRPr lang="es-US"/>
          </a:p>
        </p:txBody>
      </p:sp>
      <p:sp>
        <p:nvSpPr>
          <p:cNvPr id="1537107590" name="CuadroTexto 1"/>
          <p:cNvSpPr txBox="1"/>
          <p:nvPr/>
        </p:nvSpPr>
        <p:spPr bwMode="auto">
          <a:xfrm>
            <a:off x="760861" y="1178079"/>
            <a:ext cx="7212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 sz="2000" b="1">
                <a:latin typeface="+mj-lt"/>
              </a:rPr>
              <a:t>Verificación de Expresiones Matemáticas Balanceadas</a:t>
            </a:r>
            <a:endParaRPr lang="es-US" sz="2000" b="1">
              <a:latin typeface="+mj-lt"/>
            </a:endParaRPr>
          </a:p>
        </p:txBody>
      </p:sp>
      <p:sp>
        <p:nvSpPr>
          <p:cNvPr id="417474658" name="CuadroTexto 2"/>
          <p:cNvSpPr txBox="1"/>
          <p:nvPr/>
        </p:nvSpPr>
        <p:spPr bwMode="auto">
          <a:xfrm>
            <a:off x="534970" y="2613483"/>
            <a:ext cx="112768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Debes implementar un programa que verifique si los paréntesis en una expresión matemática están balanceados. Una expresión está balanceada si:</a:t>
            </a:r>
            <a:endParaRPr/>
          </a:p>
          <a:p>
            <a:pPr>
              <a:defRPr/>
            </a:pPr>
            <a:b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</a:b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Cada paréntesis abierto ( tiene un paréntesis de cierre correspondiente ).</a:t>
            </a:r>
            <a:endParaRPr/>
          </a:p>
          <a:p>
            <a:pPr>
              <a:defRPr/>
            </a:pP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Los paréntesis están correctamente anidados.</a:t>
            </a:r>
            <a:endParaRPr/>
          </a:p>
          <a:p>
            <a:pPr>
              <a:defRPr/>
            </a:pP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Por ejemplo:</a:t>
            </a:r>
            <a:endParaRPr/>
          </a:p>
          <a:p>
            <a:pPr>
              <a:defRPr/>
            </a:pPr>
            <a:b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</a:b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Expresión válida: (a + b) * (c + d)</a:t>
            </a:r>
            <a:endParaRPr/>
          </a:p>
          <a:p>
            <a:pPr>
              <a:defRPr/>
            </a:pP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Expresión inválida: ((a + b) * (c + d) → No hay paréntesis que cierre correctamente.</a:t>
            </a:r>
            <a:endParaRPr/>
          </a:p>
          <a:p>
            <a:pPr>
              <a:defRPr/>
            </a:pP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Expresión inválida: (a + b)) → Un paréntesis extra de cierre.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6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359246" name="Título 1"/>
          <p:cNvSpPr txBox="1"/>
          <p:nvPr/>
        </p:nvSpPr>
        <p:spPr bwMode="auto">
          <a:xfrm>
            <a:off x="4629912" y="0"/>
            <a:ext cx="8414657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 sz="5400">
                <a:solidFill>
                  <a:srgbClr val="B0EBDF"/>
                </a:solidFill>
              </a:rPr>
              <a:t>Cola (</a:t>
            </a:r>
            <a:r>
              <a:rPr lang="es-ES" sz="5400">
                <a:solidFill>
                  <a:srgbClr val="B0EBDF"/>
                </a:solidFill>
              </a:rPr>
              <a:t>queue</a:t>
            </a:r>
            <a:r>
              <a:rPr lang="es-ES" sz="5400">
                <a:solidFill>
                  <a:srgbClr val="B0EBDF"/>
                </a:solidFill>
              </a:rPr>
              <a:t>, fifo)</a:t>
            </a:r>
            <a:endParaRPr lang="es-US" sz="5400">
              <a:solidFill>
                <a:srgbClr val="B0EBDF"/>
              </a:solidFill>
            </a:endParaRPr>
          </a:p>
        </p:txBody>
      </p:sp>
      <p:pic>
        <p:nvPicPr>
          <p:cNvPr id="1833408182" name="Picture 4" descr="Colas en C++"/>
          <p:cNvPicPr/>
          <p:nvPr/>
        </p:nvPicPr>
        <p:blipFill rotWithShape="1">
          <a:blip r:embed="rId3"/>
          <a:stretch/>
        </p:blipFill>
        <p:spPr bwMode="auto">
          <a:xfrm>
            <a:off x="825515" y="3122554"/>
            <a:ext cx="4863176" cy="2316711"/>
          </a:xfrm>
          <a:prstGeom prst="rect">
            <a:avLst/>
          </a:prstGeom>
          <a:ln w="0">
            <a:noFill/>
          </a:ln>
        </p:spPr>
      </p:pic>
      <p:sp>
        <p:nvSpPr>
          <p:cNvPr id="1613490002" name="CuadroTexto 3"/>
          <p:cNvSpPr txBox="1"/>
          <p:nvPr/>
        </p:nvSpPr>
        <p:spPr bwMode="auto">
          <a:xfrm>
            <a:off x="6503310" y="2262389"/>
            <a:ext cx="6523348" cy="183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3680">
              <a:lnSpc>
                <a:spcPct val="90000"/>
              </a:lnSpc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Funciones</a:t>
            </a:r>
            <a:endParaRPr lang="es-CL" sz="1800" b="0" strike="noStrike" spc="-1">
              <a:solidFill>
                <a:schemeClr val="bg1"/>
              </a:solidFill>
              <a:latin typeface="Times New Roman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Push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Insertar nodo al final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Pop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Elimina </a:t>
            </a:r>
            <a:r>
              <a:rPr lang="es-MX" spc="-1">
                <a:solidFill>
                  <a:schemeClr val="bg1"/>
                </a:solidFill>
                <a:latin typeface="Roboto Slab"/>
                <a:ea typeface="Roboto Slab"/>
              </a:rPr>
              <a:t>el primer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 nodo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front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Retoma el </a:t>
            </a:r>
            <a:r>
              <a:rPr lang="es-ES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primer nodo</a:t>
            </a:r>
            <a:endParaRPr/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ES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Back</a:t>
            </a:r>
            <a:r>
              <a:rPr lang="es-ES" spc="-1">
                <a:solidFill>
                  <a:schemeClr val="bg1"/>
                </a:solidFill>
                <a:latin typeface="Roboto Slab"/>
                <a:ea typeface="Roboto Slab"/>
              </a:rPr>
              <a:t>: Retorna el ultimo nodo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Empty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True si la cola está vacía</a:t>
            </a:r>
            <a:endParaRPr/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Size</a:t>
            </a:r>
            <a:r>
              <a:rPr lang="es-MX" spc="-1">
                <a:solidFill>
                  <a:schemeClr val="bg1"/>
                </a:solidFill>
                <a:latin typeface="Roboto Slab"/>
                <a:ea typeface="Roboto Slab"/>
              </a:rPr>
              <a:t>: tamaño de la cola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38151" name="Título 1"/>
          <p:cNvSpPr txBox="1"/>
          <p:nvPr/>
        </p:nvSpPr>
        <p:spPr bwMode="auto">
          <a:xfrm>
            <a:off x="1161768" y="1503568"/>
            <a:ext cx="8508653" cy="503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eriod"/>
              <a:defRPr/>
            </a:pPr>
            <a:r>
              <a:rPr lang="es-ES"/>
              <a:t>Crea un algoritmo que invierta una lista enlazada simple</a:t>
            </a:r>
            <a:endParaRPr/>
          </a:p>
          <a:p>
            <a:pPr marL="742950" indent="-742950">
              <a:buAutoNum type="arabicPeriod"/>
              <a:defRPr/>
            </a:pPr>
            <a:r>
              <a:rPr lang="es-ES"/>
              <a:t>Crea un algoritmo que elimine todos los números primos de una lista enlazada.</a:t>
            </a:r>
            <a:endParaRPr/>
          </a:p>
          <a:p>
            <a:pPr marL="742950" indent="-742950">
              <a:buAutoNum type="arabicPeriod"/>
              <a:defRPr/>
            </a:pPr>
            <a:endParaRPr lang="es-ES"/>
          </a:p>
        </p:txBody>
      </p:sp>
      <p:sp>
        <p:nvSpPr>
          <p:cNvPr id="849135652" name="Título 1"/>
          <p:cNvSpPr>
            <a:spLocks noGrp="1"/>
          </p:cNvSpPr>
          <p:nvPr>
            <p:ph type="title"/>
          </p:nvPr>
        </p:nvSpPr>
        <p:spPr bwMode="auto">
          <a:xfrm>
            <a:off x="8528445" y="0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Ejercicio</a:t>
            </a:r>
            <a:endParaRPr lang="es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Arial"/>
        <a:cs typeface="Arial"/>
      </a:majorFont>
      <a:minorFont>
        <a:latin typeface="Avenir Next LT Pro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nuñez</dc:creator>
  <cp:lastModifiedBy/>
  <cp:revision>28</cp:revision>
  <dcterms:created xsi:type="dcterms:W3CDTF">2024-08-26T19:39:28Z</dcterms:created>
  <dcterms:modified xsi:type="dcterms:W3CDTF">2026-03-31T15:50:35Z</dcterms:modified>
</cp:coreProperties>
</file>